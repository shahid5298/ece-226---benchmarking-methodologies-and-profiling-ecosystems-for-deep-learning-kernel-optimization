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INCJWi8fS69dstFTouFqJRbBA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roofline model relates a kernel’s operational intensity (OI) to the maximum achievable performance on a given hardware platform. The OI is measured in FLOPs per byte of memory traffic.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 two fundamental performance limits shown in a roofline model are the memory bandwidth and compute throughput, where memory bandwidth is the data movement </a:t>
            </a:r>
            <a:r>
              <a:rPr lang="en"/>
              <a:t>limit</a:t>
            </a:r>
            <a:r>
              <a:rPr lang="en"/>
              <a:t> and compute throughput is the peak FLOP per second.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With our roofline model we measure the peak bandwidth to be about 238 GB/s, which defines the sloped region on the plot where we see the performance is scaling with the OI until the compute limits are reached.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have different compute ceiling depending on our arithmetic precision. We achieve 55 TFLOP/s for FP16, 26 TFLOP/s for TF32, and 12 TFLOP/s for FP32. So lowering our precision yields much higher compute throughput.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Therefore, kernels with low OI will be memory-bound, and kernels with high OI will be compute-bound. Memory-bound kernel performance can be improved with bandwidth reduction strategies like fusion and better memory reuse, while compute-bound kernel performance can be improved with tensor core acceleration. </a:t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bf7fb4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bf7fb4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9759af55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59759af55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ebf7fb4c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ebf7fb4c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farinaz@ucsd.edu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/>
          <p:nvPr/>
        </p:nvSpPr>
        <p:spPr>
          <a:xfrm>
            <a:off x="0" y="618920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4"/>
          <p:cNvSpPr txBox="1"/>
          <p:nvPr>
            <p:ph type="ctrTitle"/>
          </p:nvPr>
        </p:nvSpPr>
        <p:spPr>
          <a:xfrm>
            <a:off x="1128418" y="1001927"/>
            <a:ext cx="6858000" cy="136087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0" i="0" sz="2700" u="none" strike="noStrik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113836" y="2460627"/>
            <a:ext cx="6887165" cy="9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/>
          <p:nvPr/>
        </p:nvSpPr>
        <p:spPr>
          <a:xfrm>
            <a:off x="5144678" y="3382233"/>
            <a:ext cx="3370672" cy="1241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</a:t>
            </a:r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Prof. Farinaz Koushanfar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farinaz@ucsd.edu</a:t>
            </a:r>
            <a:endParaRPr b="0" i="0" sz="14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9" y="4084952"/>
            <a:ext cx="2057400" cy="65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4360" y="73855"/>
            <a:ext cx="1397723" cy="139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4948" y="4866501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226 – Winter 2026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628650" y="273844"/>
            <a:ext cx="7886700" cy="72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74947" y="4866501"/>
            <a:ext cx="906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226 – Winter 2026, Prof. Koushanfar                                                   Optimization &amp; Acceleration of DL on HW Platforms        </a:t>
            </a: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28650" y="930243"/>
            <a:ext cx="8178110" cy="7180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1720" y="273482"/>
            <a:ext cx="867259" cy="86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3/27/20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74947" y="4866501"/>
            <a:ext cx="906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226 – Winter 2026 , Prof. Koushanfar                                                   Optimization &amp; Acceleration of DL on HW Platforms        </a:t>
            </a: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28650" y="930243"/>
            <a:ext cx="8178110" cy="7180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1720" y="273482"/>
            <a:ext cx="867259" cy="86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2" name="Google Shape;72;p1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1028405" y="584026"/>
            <a:ext cx="6858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" sz="2100">
                <a:solidFill>
                  <a:srgbClr val="888888"/>
                </a:solidFill>
              </a:rPr>
              <a:t>UCSD ECE 226 – Optimization and Acceleration of Deep Learning on Various Hardware Platforms</a:t>
            </a:r>
            <a:endParaRPr sz="2100">
              <a:solidFill>
                <a:srgbClr val="888888"/>
              </a:solidFill>
            </a:endParaRPr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1013823" y="2452352"/>
            <a:ext cx="68871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1700"/>
              <a:t>Benchmarking Methodologies &amp; Profiling Ecosystems</a:t>
            </a:r>
            <a:endParaRPr b="1" sz="17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1700"/>
              <a:t>Group 23</a:t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01" name="Google Shape;101;p1"/>
          <p:cNvSpPr txBox="1"/>
          <p:nvPr/>
        </p:nvSpPr>
        <p:spPr>
          <a:xfrm>
            <a:off x="2128150" y="3046475"/>
            <a:ext cx="475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Shahid Mulla, Cheng-Lun Tai, Subhon Ghosh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March 12, 2026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Roofline Model</a:t>
            </a:r>
            <a:endParaRPr b="1"/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100" y="1097300"/>
            <a:ext cx="4177850" cy="36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628650" y="1369225"/>
            <a:ext cx="3943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Relates kernel’s OI to maximum achievable performance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Performance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limited by memory or compute bounds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Measured peak bandwidth: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~238 GB/s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Reduced precision enables higher throughput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Kernels with low OI are memory bound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Kernels with high OI are compute bound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bf7fb4c4_0_1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Performance</a:t>
            </a:r>
            <a:endParaRPr/>
          </a:p>
        </p:txBody>
      </p:sp>
      <p:pic>
        <p:nvPicPr>
          <p:cNvPr id="114" name="Google Shape;114;g3cebf7fb4c4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31" y="1201502"/>
            <a:ext cx="1751210" cy="1233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cebf7fb4c4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24" y="2973096"/>
            <a:ext cx="1751211" cy="127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cebf7fb4c4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5401" y="2983554"/>
            <a:ext cx="1751211" cy="125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cebf7fb4c4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5413" y="1180924"/>
            <a:ext cx="1751211" cy="127449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cebf7fb4c4_0_1"/>
          <p:cNvSpPr txBox="1"/>
          <p:nvPr/>
        </p:nvSpPr>
        <p:spPr>
          <a:xfrm>
            <a:off x="4900050" y="1539000"/>
            <a:ext cx="40134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Key Observations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Throughput increases with problem size due to improved GPU utilization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FP16 consistently achieves higher throughput than FP32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Different kernels exhibit different operational intensity patterns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9759af55_2_20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Distribution</a:t>
            </a:r>
            <a:endParaRPr/>
          </a:p>
        </p:txBody>
      </p:sp>
      <p:pic>
        <p:nvPicPr>
          <p:cNvPr id="124" name="Google Shape;124;g3c59759af55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38" y="1369221"/>
            <a:ext cx="3764933" cy="3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c59759af55_2_20"/>
          <p:cNvSpPr txBox="1"/>
          <p:nvPr/>
        </p:nvSpPr>
        <p:spPr>
          <a:xfrm>
            <a:off x="4847550" y="1968175"/>
            <a:ext cx="36678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Observations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GEMM appears in the high-intensity, high-throughput region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Element-wise add lies in the low-intensity region (memory-bound behavior)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Softmax shows intermediate characteristics between compute and memory limits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ebf7fb4c4_2_0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Roofline Based Optimization Strategy</a:t>
            </a:r>
            <a:endParaRPr/>
          </a:p>
        </p:txBody>
      </p:sp>
      <p:sp>
        <p:nvSpPr>
          <p:cNvPr id="131" name="Google Shape;131;g3cebf7fb4c4_2_0"/>
          <p:cNvSpPr txBox="1"/>
          <p:nvPr>
            <p:ph idx="1" type="body"/>
          </p:nvPr>
        </p:nvSpPr>
        <p:spPr>
          <a:xfrm>
            <a:off x="628650" y="1369225"/>
            <a:ext cx="7714800" cy="113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-328453" lvl="0" marL="457200" rtl="0" algn="l">
              <a:spcBef>
                <a:spcPts val="8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" sz="1700"/>
              <a:t>GEMM becomes compute-bound at scale, making Tensor Cores the optimal choice.</a:t>
            </a:r>
            <a:endParaRPr sz="170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" sz="1700"/>
              <a:t>Element-wise Add is always memory-bound, where kernel fusion eliminates redundant HBM round-trips</a:t>
            </a:r>
            <a:endParaRPr sz="1700"/>
          </a:p>
          <a:p>
            <a:pPr indent="-315277" lvl="0" marL="457200" rtl="0" algn="l">
              <a:spcBef>
                <a:spcPts val="0"/>
              </a:spcBef>
              <a:spcAft>
                <a:spcPts val="0"/>
              </a:spcAft>
              <a:buSzPct val="83105"/>
              <a:buFont typeface="Calibri"/>
              <a:buChar char="•"/>
            </a:pPr>
            <a:r>
              <a:rPr lang="en" sz="1775"/>
              <a:t>Softmax is bandwidth-limited, and FlashAttention directly resolves this bottleneck</a:t>
            </a:r>
            <a:endParaRPr sz="1775"/>
          </a:p>
        </p:txBody>
      </p:sp>
      <p:pic>
        <p:nvPicPr>
          <p:cNvPr id="132" name="Google Shape;132;g3cebf7fb4c4_2_0" title="classification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00" y="2478601"/>
            <a:ext cx="7998853" cy="21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